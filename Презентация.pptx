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2" r:id="rId6"/>
    <p:sldId id="266" r:id="rId7"/>
    <p:sldId id="268" r:id="rId8"/>
    <p:sldId id="265" r:id="rId9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323" autoAdjust="0"/>
  </p:normalViewPr>
  <p:slideViewPr>
    <p:cSldViewPr snapToGrid="0" snapToObjects="1">
      <p:cViewPr varScale="1">
        <p:scale>
          <a:sx n="91" d="100"/>
          <a:sy n="91" d="100"/>
        </p:scale>
        <p:origin x="61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50480-8D6B-4B66-353A-6D25E738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2D1F7-B13F-41DB-B43D-CBC39F1B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F1986-37A8-7B7D-7D24-0A59B92E40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16AA1-2B8E-C03F-155D-722BE09D69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3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564C-2709-A5FD-FE75-EEA6E88D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B96CDA-C5A2-28E7-9325-B3835B918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296D3-9B40-6BBF-8CB8-920C4425A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B10AA-9A64-3304-FF8C-1DD05986C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7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D5094-5E51-4302-B4F8-5FB291CED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08870A-9326-4430-8EA3-51FF591C1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0C3BFD-15B2-4AF6-A3C9-B9B6670AD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E4E2CD-E485-4B57-882B-EDF22A0D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C5D884-E3A7-4AEA-B988-222E8A53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186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42B403-FA5D-480C-8387-BBE152F54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BA48D-365F-415C-8C62-6A17AAE1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9F40DB-0ADF-4E52-A542-F646EA4E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2EBEBE-C5B5-4B1F-ACC6-F6C17805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8B3BEA-0FC9-4291-B7C2-D3C71B41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91460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D009E-0349-4BD5-A847-C32FFB89F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3E5CCF-9F00-4E92-BFA6-3020B108F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CD71F6-E282-4C43-8BC8-15652A1C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7B614-2417-4D29-85FB-A52427A5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9B86D-A50C-4118-A4FC-54DDCFA04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7963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0D83D-539B-4CB8-8E00-C9163BA4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D8C96F-DA52-481B-9663-202AD08C4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C243F1-D231-4DFE-85E1-24DDA12E9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1134A8-23C0-4ABE-8741-7BB07052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46CF94-AAD3-430B-9EA2-0C84E192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5D6319-5BF3-4F9F-BF79-6CE4A25E5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4546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479C1-AD67-459E-A1C1-2F78EE34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470760-BC67-4AF1-8B81-24AF57532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5445EFD-CB42-4865-A24C-12E0D7873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B74999-4101-433C-A37F-5F74D12E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49DFBC-4685-4344-A334-C848F4CC09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0135F8C-4128-47C9-8414-47CBB454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A485456-1E25-4D49-8109-0CFFF045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A30B192-A7AA-44A3-BB54-3A68ABF6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8184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A7683-9084-4789-89FC-42676BF2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9EA1001-4DEA-4DBD-B4C9-0B6376D2A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6FE5FE-17B3-4524-8C84-210E3F83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F1132E2-FEA1-49A7-96EB-BCB807D4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0223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581C74C-BF7C-4441-8537-7DEFC8DC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EC2E84-D3E9-495D-B7A7-84AD746F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8A6F50-52DD-4B68-B5E3-62E2C836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9819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4021C-58C3-49B3-924B-0C28425B3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EA57C1-809C-4937-B330-67AE03C84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8376DB-265D-43D1-8308-44AB7D910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04CBC3-8C01-4E38-8E5C-617506497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27F810-FE67-4EB4-94DD-4F9F3DACE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9D6F9C-6AA8-4AEB-976E-337AA35E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161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3DFF3-61AE-452B-A82F-0E775BE1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607FB1-C19F-4C54-B152-AF1AF21BE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28EC62-6C3C-4B17-A94D-A5C74410A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BA653-E35F-41DD-B4F6-C1C7E681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6A1A88-608F-4D1E-A926-68A1A9118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699F5D-FC3A-48FE-B7CB-9EA37BF6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8504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A18698-ED82-408B-B683-E4B3AA970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696A37-1E54-4103-99D5-7D48015DA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24CD84-8007-4124-A305-5CB8DD0F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EAD82A-3165-406B-8EFB-58DEFC796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956869-AD4D-4B25-915A-FBC876214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5496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F46CB1-C6E7-40C4-AE73-EDC2EBFC1E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993A7C-4995-41F4-8980-96D92E4C1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5F24B9-4AC7-4C8A-B9E9-7E1F1038A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5B7BF3-5F06-449C-8F6E-5E153ACB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7A81B8-EAC2-44F8-9FD7-692E6839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2432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70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618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653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700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0478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956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659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4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58729-3094-4ECB-989B-F3CD3CEAF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63D07F-1E6A-49F2-B85A-FA1EE5446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02D03F-51BB-4E89-BF7B-5313379F6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08947-BC00-45F7-8312-98006592C14E}" type="datetimeFigureOut">
              <a:rPr lang="ru-RU" smtClean="0"/>
              <a:t>26.05.2026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3B20B1-AF52-4FCB-A5B4-2938EB85C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B57D83-F864-45EA-98ED-BBEFE6DDB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84B1-FB3F-4AEA-9E17-7FC7A13F6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83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375" y="2307612"/>
            <a:ext cx="8416289" cy="774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«База данных для учета заявок на сопровождение и модификацию 1С </a:t>
            </a:r>
          </a:p>
          <a:p>
            <a:pPr marL="0" indent="0" algn="ctr">
              <a:lnSpc>
                <a:spcPts val="5550"/>
              </a:lnSpc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 контролем статусов и исполнителей»</a:t>
            </a:r>
            <a:endParaRPr lang="en-US" sz="6000" dirty="0"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78110" y="12158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ПМ.11 Разработка, администрирование и защита баз данных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Казанцев Константин Вячеславович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Махнев Александр Анатольевич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117985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458628" y="774027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206C99-6EF1-4A1D-B937-8E094F62BABE}"/>
              </a:ext>
            </a:extLst>
          </p:cNvPr>
          <p:cNvSpPr txBox="1"/>
          <p:nvPr/>
        </p:nvSpPr>
        <p:spPr>
          <a:xfrm>
            <a:off x="283778" y="1122016"/>
            <a:ext cx="1397875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базу данных в 1С:Предприятие для учёта заявок клиентов компании ООО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МастерСофт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-Сервис» на сопровождение и доработку конфигураций 1С.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области, выделить сущности.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нормализовать БД (3НФ), построить ER-диаграмму.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БД в 1С:Предприятие (справочники, документ «Заявка», регистр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ИсторияСтатусов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Заполнить БД тестовыми данными – не менее 1000 записей.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Настроить роли пользователей (Администратор, Менеджер, Исполнитель) и систему паролей.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запросы и отчёты для анализа заявок.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резервное копирование (6 копий за период практики).</a:t>
            </a: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761047" y="223457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ER-диаграмма</a:t>
            </a: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 базы данных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607214" y="70562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427AE2-844E-4BE9-94E4-AF5A1F59F0B0}"/>
              </a:ext>
            </a:extLst>
          </p:cNvPr>
          <p:cNvSpPr txBox="1"/>
          <p:nvPr/>
        </p:nvSpPr>
        <p:spPr>
          <a:xfrm>
            <a:off x="199695" y="1069622"/>
            <a:ext cx="609600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Сущности и связи: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 — организации-заказчики.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Исполнители — программисты 1С.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Договоры — на сопровождение (связь с клиентом 1:N).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Заявки — основная сущность (клиент, описание, приоритет, статус, исполнитель, плановая дата).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статусов — журнал изменений (1 заявка → N записей).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— учётные записи для входа (связь 1:1 с исполнителями).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приведена к третьей нормальной форме (3НФ).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6F9CB8-8548-46E2-B62A-B2EB270AA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195" y="954153"/>
            <a:ext cx="4401102" cy="6557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2">
            <a:extLst>
              <a:ext uri="{FF2B5EF4-FFF2-40B4-BE49-F238E27FC236}">
                <a16:creationId xmlns:a16="http://schemas.microsoft.com/office/drawing/2014/main" id="{C89DB78B-59D5-EBBD-86C4-E14AF8DFBD4E}"/>
              </a:ext>
            </a:extLst>
          </p:cNvPr>
          <p:cNvSpPr/>
          <p:nvPr/>
        </p:nvSpPr>
        <p:spPr>
          <a:xfrm>
            <a:off x="370662" y="76170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ru-RU" sz="39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Реализация в 1С:Предприятие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73CD3E-7BAD-9BED-8B55-AEF43CEDF234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1605E88-67BD-436E-D18E-7804501A5EA2}"/>
              </a:ext>
            </a:extLst>
          </p:cNvPr>
          <p:cNvSpPr/>
          <p:nvPr/>
        </p:nvSpPr>
        <p:spPr>
          <a:xfrm>
            <a:off x="370662" y="727876"/>
            <a:ext cx="13042821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FA2BC-53EC-4F4B-BFF7-D0E97812CFEA}"/>
              </a:ext>
            </a:extLst>
          </p:cNvPr>
          <p:cNvSpPr txBox="1"/>
          <p:nvPr/>
        </p:nvSpPr>
        <p:spPr>
          <a:xfrm>
            <a:off x="263411" y="1333102"/>
            <a:ext cx="129480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 1С:Предприятие 8.3 (файловый вариант)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 сгенерировано &gt;2000 записей (50 клиентов, 10 исполнителей, 200 договоров, 700 заявок, 1400 записей истории).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BB5212E-8E52-4594-9BA7-D215FF934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63" y="2897397"/>
            <a:ext cx="7102194" cy="43615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E7FEBF-81DE-4406-801E-5458154B17C0}"/>
              </a:ext>
            </a:extLst>
          </p:cNvPr>
          <p:cNvSpPr txBox="1"/>
          <p:nvPr/>
        </p:nvSpPr>
        <p:spPr>
          <a:xfrm>
            <a:off x="7725104" y="3225250"/>
            <a:ext cx="66845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Созданные объекты: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Справочники: Клиенты, Исполнители, Договоры, Пользователи.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Документ: «Заявка» (CRUD-операции).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 сведений: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ИсторияСтатусов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Перечисления: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СтатусыЗаявки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Приоритеты,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РолиПользователей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Подсистемы: Администрирование, Справочники, Документы, Отчёты, Мониторинг.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5589" y="32363"/>
            <a:ext cx="6133743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ru-RU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Разграничение</a:t>
            </a:r>
            <a:r>
              <a:rPr lang="ru-RU" sz="38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доступа (роли и пользователи)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2975B31-5FE7-DE04-453B-C4ADB4142421}"/>
              </a:ext>
            </a:extLst>
          </p:cNvPr>
          <p:cNvSpPr/>
          <p:nvPr/>
        </p:nvSpPr>
        <p:spPr>
          <a:xfrm>
            <a:off x="12879659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B99555D5-37FC-186C-1066-0ACDD12E2604}"/>
              </a:ext>
            </a:extLst>
          </p:cNvPr>
          <p:cNvSpPr/>
          <p:nvPr/>
        </p:nvSpPr>
        <p:spPr>
          <a:xfrm>
            <a:off x="375589" y="67691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37D1A5-8B04-4431-B48F-A0845E23A751}"/>
              </a:ext>
            </a:extLst>
          </p:cNvPr>
          <p:cNvSpPr txBox="1"/>
          <p:nvPr/>
        </p:nvSpPr>
        <p:spPr>
          <a:xfrm>
            <a:off x="126124" y="6715105"/>
            <a:ext cx="12496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Учётные записи для демонстрации: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(admin123),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ivanov_m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(qwerty123),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petrov_i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(qwerty123).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Пароли хранятся в зашифрованном виде, регистрация пользователей – через «Администрирование → Пользователи».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а 12">
            <a:extLst>
              <a:ext uri="{FF2B5EF4-FFF2-40B4-BE49-F238E27FC236}">
                <a16:creationId xmlns:a16="http://schemas.microsoft.com/office/drawing/2014/main" id="{92B083E5-046B-457E-A78D-E3FED888B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304074"/>
              </p:ext>
            </p:extLst>
          </p:nvPr>
        </p:nvGraphicFramePr>
        <p:xfrm>
          <a:off x="259974" y="2079608"/>
          <a:ext cx="7854012" cy="416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9537">
                  <a:extLst>
                    <a:ext uri="{9D8B030D-6E8A-4147-A177-3AD203B41FA5}">
                      <a16:colId xmlns:a16="http://schemas.microsoft.com/office/drawing/2014/main" val="3465678795"/>
                    </a:ext>
                  </a:extLst>
                </a:gridCol>
                <a:gridCol w="5804475">
                  <a:extLst>
                    <a:ext uri="{9D8B030D-6E8A-4147-A177-3AD203B41FA5}">
                      <a16:colId xmlns:a16="http://schemas.microsoft.com/office/drawing/2014/main" val="2472516946"/>
                    </a:ext>
                  </a:extLst>
                </a:gridCol>
              </a:tblGrid>
              <a:tr h="725616"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Роль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Права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71054"/>
                  </a:ext>
                </a:extLst>
              </a:tr>
              <a:tr h="782964"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Администратор</a:t>
                      </a:r>
                      <a:endParaRPr lang="ru-RU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Полный доступ ко всем объектам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796661"/>
                  </a:ext>
                </a:extLst>
              </a:tr>
              <a:tr h="1361275"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Менеджер</a:t>
                      </a:r>
                      <a:endParaRPr lang="ru-RU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CRUD по справочникам «Клиенты», «Договоры», документу «Заявка»; просмотр всех отчётов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556991"/>
                  </a:ext>
                </a:extLst>
              </a:tr>
              <a:tr h="1293490"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Исполнитель</a:t>
                      </a:r>
                      <a:endParaRPr lang="ru-RU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Только чтение и изменение своих заявок (RLS описано), просмотр отчётов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243080"/>
                  </a:ext>
                </a:extLst>
              </a:tr>
            </a:tbl>
          </a:graphicData>
        </a:graphic>
      </p:graphicFrame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752BC6-9D32-4B4B-ADF0-994892DAC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030" y="1483588"/>
            <a:ext cx="3433512" cy="11920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34A8369-6A95-4A47-97EE-A54D7DF51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448" y="2864383"/>
            <a:ext cx="5144676" cy="41355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DD0C-FF47-D7BB-79B2-27CDD0831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AAC611-DD74-8C3B-EC18-59572C7BDB11}"/>
              </a:ext>
            </a:extLst>
          </p:cNvPr>
          <p:cNvSpPr/>
          <p:nvPr/>
        </p:nvSpPr>
        <p:spPr>
          <a:xfrm>
            <a:off x="538828" y="24706"/>
            <a:ext cx="4279662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450"/>
              </a:lnSpc>
              <a:buNone/>
            </a:pPr>
            <a:r>
              <a:rPr lang="ru-RU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Отчёты</a:t>
            </a:r>
            <a:r>
              <a:rPr lang="ru-RU" sz="43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 и запросы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766A6CF-C91E-6BD5-F5B3-5D1391E3E21C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2F838A98-13DF-3AE0-0C88-BE4AD8FCD99C}"/>
              </a:ext>
            </a:extLst>
          </p:cNvPr>
          <p:cNvSpPr/>
          <p:nvPr/>
        </p:nvSpPr>
        <p:spPr>
          <a:xfrm>
            <a:off x="538828" y="72241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586DA7-EEC6-49E9-BEAD-02044E26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31" y="932421"/>
            <a:ext cx="6863721" cy="2667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421B8D-F906-41F1-8387-201378EE2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193" y="4114800"/>
            <a:ext cx="7410091" cy="3554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05648BD-E634-4739-960D-B5EDC5F9CCF6}"/>
              </a:ext>
            </a:extLst>
          </p:cNvPr>
          <p:cNvSpPr txBox="1"/>
          <p:nvPr/>
        </p:nvSpPr>
        <p:spPr>
          <a:xfrm>
            <a:off x="199231" y="3817030"/>
            <a:ext cx="640126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Разработано 5 внешних отчётов на языке запросов 1С: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заявок (сортировка по дате, все поля).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Сводка по статусам (количество заявок в каждом статусе).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Просроченные заявки (плановая дата &lt; сегодня, статус не «Выполнена»/«Отклонена»).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исполнителей (всего заявок, в работе, просрочено по каждому программисту).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изменений заявки (выбор заявки → журнал смены статусов)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E7E7A06-BC64-49DD-8AC8-8A9844BDA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9679" y="983822"/>
            <a:ext cx="4521970" cy="26159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07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240EF-7F83-CD0C-AA3D-5A26C943A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E08F010-3C58-0880-95BF-48B876864FCD}"/>
              </a:ext>
            </a:extLst>
          </p:cNvPr>
          <p:cNvSpPr/>
          <p:nvPr/>
        </p:nvSpPr>
        <p:spPr>
          <a:xfrm>
            <a:off x="505425" y="8754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ru-RU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Резервное копирование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936108D-D186-A63B-A962-ECA641EA1DD8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4" name="Shape 1">
            <a:extLst>
              <a:ext uri="{FF2B5EF4-FFF2-40B4-BE49-F238E27FC236}">
                <a16:creationId xmlns:a16="http://schemas.microsoft.com/office/drawing/2014/main" id="{A369821B-E14C-A902-27E8-18133FAB3D83}"/>
              </a:ext>
            </a:extLst>
          </p:cNvPr>
          <p:cNvSpPr/>
          <p:nvPr/>
        </p:nvSpPr>
        <p:spPr>
          <a:xfrm>
            <a:off x="505425" y="732545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42EBE9-9BEF-4B3A-BFA6-2A3B2695638A}"/>
              </a:ext>
            </a:extLst>
          </p:cNvPr>
          <p:cNvSpPr txBox="1"/>
          <p:nvPr/>
        </p:nvSpPr>
        <p:spPr>
          <a:xfrm>
            <a:off x="409904" y="911800"/>
            <a:ext cx="11845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6 резервных копий информационной базы (методом выгрузки 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копированием папки):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717F7-E9CB-479E-B6B5-1D51CEE82860}"/>
              </a:ext>
            </a:extLst>
          </p:cNvPr>
          <p:cNvSpPr txBox="1"/>
          <p:nvPr/>
        </p:nvSpPr>
        <p:spPr>
          <a:xfrm>
            <a:off x="505425" y="7317800"/>
            <a:ext cx="11288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Восстановление: через Конфигуратор («Администрирование → Загрузить информационную базу»).</a:t>
            </a:r>
          </a:p>
        </p:txBody>
      </p:sp>
      <p:graphicFrame>
        <p:nvGraphicFramePr>
          <p:cNvPr id="22" name="Таблица 28">
            <a:extLst>
              <a:ext uri="{FF2B5EF4-FFF2-40B4-BE49-F238E27FC236}">
                <a16:creationId xmlns:a16="http://schemas.microsoft.com/office/drawing/2014/main" id="{379B84A5-423F-49DA-AC5B-42835CC78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160956"/>
              </p:ext>
            </p:extLst>
          </p:nvPr>
        </p:nvGraphicFramePr>
        <p:xfrm>
          <a:off x="505424" y="1472194"/>
          <a:ext cx="13441803" cy="5845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962">
                  <a:extLst>
                    <a:ext uri="{9D8B030D-6E8A-4147-A177-3AD203B41FA5}">
                      <a16:colId xmlns:a16="http://schemas.microsoft.com/office/drawing/2014/main" val="2385035453"/>
                    </a:ext>
                  </a:extLst>
                </a:gridCol>
                <a:gridCol w="8058240">
                  <a:extLst>
                    <a:ext uri="{9D8B030D-6E8A-4147-A177-3AD203B41FA5}">
                      <a16:colId xmlns:a16="http://schemas.microsoft.com/office/drawing/2014/main" val="3310943316"/>
                    </a:ext>
                  </a:extLst>
                </a:gridCol>
                <a:gridCol w="4480601">
                  <a:extLst>
                    <a:ext uri="{9D8B030D-6E8A-4147-A177-3AD203B41FA5}">
                      <a16:colId xmlns:a16="http://schemas.microsoft.com/office/drawing/2014/main" val="2581184144"/>
                    </a:ext>
                  </a:extLst>
                </a:gridCol>
              </a:tblGrid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№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Имя файла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538978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Заявки_01_ПустаяБаза.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20.05 – после создания структуры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46607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Заявки_02_Справочники.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21.05 – после справочников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714567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Заявки_03_ДокументЗаявка.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22.05 – после документа и регистра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796898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Заявки_04_РолиПользователи.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23.05 – после ролей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20922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Заявки_05_ДемоДанные.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24.05 – после заполнения &gt;1000 записей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036543"/>
                  </a:ext>
                </a:extLst>
              </a:tr>
              <a:tr h="83508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Заявки_06_ОтчетыФинальная.</a:t>
                      </a:r>
                      <a:r>
                        <a:rPr lang="en-US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16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25.05 – финальная версия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43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039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442363" y="63200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442363" y="79299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774DE-A0CC-418E-8A16-1AC404201714}"/>
              </a:ext>
            </a:extLst>
          </p:cNvPr>
          <p:cNvSpPr txBox="1"/>
          <p:nvPr/>
        </p:nvSpPr>
        <p:spPr>
          <a:xfrm>
            <a:off x="442363" y="1135039"/>
            <a:ext cx="135373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задачи производственной практики выполнены: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и нормализована БД, построена ER-диаграмма.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реализована в 1С:Предприятие 8.3, заполнена &gt;2000 записей.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CRUD-операции через стандартные формы.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Настроены роли пользователей (Администратор, Менеджер, Исполнитель) и система паролей.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5 отчётов на языке запросов 1С.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Выполнено 6 резервных копий.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БД готова к внедрению в ООО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МастерСофт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-Сервис» для учёта заявок на сопровождение и модификацию 1С.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D3A5880-03D1-475D-AFF4-EFD80BAD78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413680" y="938667"/>
            <a:ext cx="3341348" cy="28998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A29CF3-837F-4B18-B3A0-ECD9E5B5B67E}"/>
              </a:ext>
            </a:extLst>
          </p:cNvPr>
          <p:cNvSpPr txBox="1"/>
          <p:nvPr/>
        </p:nvSpPr>
        <p:spPr>
          <a:xfrm>
            <a:off x="10552386" y="3775293"/>
            <a:ext cx="3731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QR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-Код на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-Репозиторий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702</Words>
  <Application>Microsoft Office PowerPoint</Application>
  <PresentationFormat>Произвольный</PresentationFormat>
  <Paragraphs>134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User</dc:creator>
  <cp:lastModifiedBy>kprivet000@gmail.com</cp:lastModifiedBy>
  <cp:revision>57</cp:revision>
  <dcterms:created xsi:type="dcterms:W3CDTF">2026-04-20T09:20:00Z</dcterms:created>
  <dcterms:modified xsi:type="dcterms:W3CDTF">2026-05-26T11:57:20Z</dcterms:modified>
</cp:coreProperties>
</file>